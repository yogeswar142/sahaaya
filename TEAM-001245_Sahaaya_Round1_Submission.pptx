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bnc-hbyc.mohfw.gov.in/assets/document/Revised%20India%20MCP%20Card%20English_(28-05-2018).pdf" TargetMode="External"/><Relationship Id="rId3" Type="http://schemas.openxmlformats.org/officeDocument/2006/relationships/hyperlink" Target="https://nhm.gov.in/images/pdf/communitisation/asha/ASHA_Induction_Module_English.pdf" TargetMode="External"/><Relationship Id="rId4" Type="http://schemas.openxmlformats.org/officeDocument/2006/relationships/hyperlink" Target="https://pmc.ncbi.nlm.nih.gov/articles/PMC9292773/" TargetMode="External"/><Relationship Id="rId5" Type="http://schemas.openxmlformats.org/officeDocument/2006/relationships/hyperlink" Target="https://telecomtalk.info/?p=654511" TargetMode="External"/><Relationship Id="rId6" Type="http://schemas.openxmlformats.org/officeDocument/2006/relationships/hyperlink" Target="https://newlinesmag.com/reportage/indias-digital-health-push-is-overworking-its-front-line-women/" TargetMode="External"/><Relationship Id="rId7" Type="http://schemas.openxmlformats.org/officeDocument/2006/relationships/hyperlink" Target="https://www.downtoearth.org.in/science-technology/who-releases-guidelines-for-multi-modal-generative-ai-in-healthcare-resonates-with-recommendations-for-other-sectors-93991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youtu.be/_Yz6aoMcbP4" TargetMode="External"/><Relationship Id="rId4" Type="http://schemas.openxmlformats.org/officeDocument/2006/relationships/hyperlink" Target="https://github.com/yogeswar142/Sahaaya" TargetMode="External"/><Relationship Id="rId5" Type="http://schemas.openxmlformats.org/officeDocument/2006/relationships/hyperlink" Target="https://github.com/yogeswar142/Sahaaya/releases/late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ROUND 1 REVIEW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4FA3E3"/>
                </a:solidFill>
                <a:latin typeface="Calibri"/>
              </a:rPr>
              <a:t>AI Frontier Challenge 2026 Round 1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3566160"/>
            <a:ext cx="4663440" cy="1143000"/>
          </a:xfrm>
          <a:prstGeom prst="roundRect">
            <a:avLst/>
          </a:prstGeom>
          <a:solidFill>
            <a:srgbClr val="18386C"/>
          </a:solidFill>
          <a:ln w="12700">
            <a:solidFill>
              <a:srgbClr val="30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/>
            <a:r>
              <a:rPr sz="1200" b="1">
                <a:solidFill>
                  <a:srgbClr val="ADCDEE"/>
                </a:solidFill>
                <a:latin typeface="Calibri"/>
              </a:rPr>
              <a:t>Team Name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Vizag Mavericks (TEAM-001245)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566160"/>
            <a:ext cx="4663440" cy="1143000"/>
          </a:xfrm>
          <a:prstGeom prst="roundRect">
            <a:avLst/>
          </a:prstGeom>
          <a:solidFill>
            <a:srgbClr val="18386C"/>
          </a:solidFill>
          <a:ln w="12700">
            <a:solidFill>
              <a:srgbClr val="30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/>
            <a:r>
              <a:rPr sz="1200" b="1">
                <a:solidFill>
                  <a:srgbClr val="ADCDEE"/>
                </a:solidFill>
                <a:latin typeface="Calibri"/>
              </a:rPr>
              <a:t>Team Leader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Amara Yogeswararao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892040"/>
            <a:ext cx="4663440" cy="1143000"/>
          </a:xfrm>
          <a:prstGeom prst="roundRect">
            <a:avLst/>
          </a:prstGeom>
          <a:solidFill>
            <a:srgbClr val="18386C"/>
          </a:solidFill>
          <a:ln w="12700">
            <a:solidFill>
              <a:srgbClr val="30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/>
            <a:r>
              <a:rPr sz="1200" b="1">
                <a:solidFill>
                  <a:srgbClr val="ADCDEE"/>
                </a:solidFill>
                <a:latin typeface="Calibri"/>
              </a:rPr>
              <a:t>Track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H5. Frontline Health-Worker Companion for Low-Connectivity Areas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892040"/>
            <a:ext cx="4663440" cy="1143000"/>
          </a:xfrm>
          <a:prstGeom prst="roundRect">
            <a:avLst/>
          </a:prstGeom>
          <a:solidFill>
            <a:srgbClr val="18386C"/>
          </a:solidFill>
          <a:ln w="12700">
            <a:solidFill>
              <a:srgbClr val="30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/>
            <a:r>
              <a:rPr sz="1200" b="1">
                <a:solidFill>
                  <a:srgbClr val="ADCDEE"/>
                </a:solidFill>
                <a:latin typeface="Calibri"/>
              </a:rPr>
              <a:t>Date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18/10/2026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50" b="1">
                <a:solidFill>
                  <a:srgbClr val="1F4687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Frontline Overload &amp; Zero Mobile Reception: </a:t>
            </a:r>
            <a:r>
              <a:rPr sz="1019">
                <a:solidFill>
                  <a:srgbClr val="262626"/>
                </a:solidFill>
                <a:latin typeface="Calibri"/>
              </a:rPr>
              <a:t>India's 10.29 lakh ASHAs and 2.5 lakh ANMs manage up to 28 paper registers [5]; in Andhra Pradesh alone, 1,700+ remote villages (1,000+ in ASR district) have complete zero mobile reception [4].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Preventable Maternal &amp; Neonatal Mortality: </a:t>
            </a:r>
            <a:r>
              <a:rPr sz="1019">
                <a:solidFill>
                  <a:srgbClr val="262626"/>
                </a:solidFill>
                <a:latin typeface="Calibri"/>
              </a:rPr>
              <a:t>Obstetric haemorrhage causes 47% of maternal deaths [3]; unrecognised newborn danger signs (hypothermia, convulsions, chest indrawing) lead to fatal referral delays [1, 2].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AI Safety &amp; Frontline Malpractice Risks: </a:t>
            </a:r>
            <a:r>
              <a:rPr sz="1019">
                <a:solidFill>
                  <a:srgbClr val="262626"/>
                </a:solidFill>
                <a:latin typeface="Calibri"/>
              </a:rPr>
              <a:t>General-purpose AI can produce inaccurate or unsafe medical guidance without appropriate safeguards, risking non-prescribing ASHA boundary violations [1], failing offline, and lacking WHO clinical guardrails [6].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44368"/>
            <a:ext cx="1069848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50" b="1">
                <a:solidFill>
                  <a:srgbClr val="1F4687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Frontline Scale &amp; National Need: </a:t>
            </a:r>
            <a:r>
              <a:rPr sz="1019">
                <a:solidFill>
                  <a:srgbClr val="262626"/>
                </a:solidFill>
                <a:latin typeface="Calibri"/>
              </a:rPr>
              <a:t>10.29 lakh ASHAs and ~2.5 lakh Sub-Centre ANMs across India serving 1,000 population norms, requiring an intuitive, reliable paramedical companion [1, 2].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Critical Gap in Existing Systems: </a:t>
            </a:r>
            <a:r>
              <a:rPr sz="1019">
                <a:solidFill>
                  <a:srgbClr val="262626"/>
                </a:solidFill>
                <a:latin typeface="Calibri"/>
              </a:rPr>
              <a:t>Existing state tools (ANMOL, Kilkari) focus on administrative reporting or outbound audio broadcasts; they rely on mobile networks [4] and lack on-demand offline clinical danger triage or strict scope gating [5].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Sahaaya High-Impact Value: </a:t>
            </a:r>
            <a:r>
              <a:rPr sz="1019">
                <a:solidFill>
                  <a:srgbClr val="262626"/>
                </a:solidFill>
                <a:latin typeface="Calibri"/>
              </a:rPr>
              <a:t>100% offline, protocol-grounded companion: deterministic danger-sign escalation [1], physician redirects [6], prioritized visits, emergency referral slips, and 2G SMS field sync [4].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728655" cy="1645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56048"/>
            <a:ext cx="103327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1F4687"/>
                </a:solidFill>
                <a:latin typeface="Calibri"/>
              </a:defRPr>
            </a:pPr>
            <a:r>
              <a:t>Official Protocol Sources &amp; Clinical Evidence Citations: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512064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1F4687"/>
                </a:solidFill>
              </a:rPr>
              <a:t>[1] MoHFW National Guidelines: </a:t>
            </a:r>
            <a:r>
              <a:rPr sz="950" u="sng">
                <a:solidFill>
                  <a:srgbClr val="004BA5"/>
                </a:solidFill>
                <a:hlinkClick r:id="rId2"/>
              </a:rPr>
              <a:t>Revised India MCP Card (2018) &amp; ASHA Modules 6-7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F4687"/>
                </a:solidFill>
              </a:rPr>
              <a:t>[2] NHM Clinical Guidance: </a:t>
            </a:r>
            <a:r>
              <a:rPr sz="950" u="sng">
                <a:solidFill>
                  <a:srgbClr val="004BA5"/>
                </a:solidFill>
                <a:hlinkClick r:id="rId3"/>
              </a:rPr>
              <a:t>ASHA Induction Module (pp. 51-97) &amp; STOP Diarrhoea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F4687"/>
                </a:solidFill>
              </a:rPr>
              <a:t>[3] PMC9292773 Study: </a:t>
            </a:r>
            <a:r>
              <a:rPr sz="950" u="sng">
                <a:solidFill>
                  <a:srgbClr val="004BA5"/>
                </a:solidFill>
                <a:hlinkClick r:id="rId4"/>
              </a:rPr>
              <a:t>Obstetric haemorrhage causes 47% maternal deaths in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57800"/>
            <a:ext cx="512064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1F4687"/>
                </a:solidFill>
              </a:rPr>
              <a:t>[4] TelecomTalk AP Survey: </a:t>
            </a:r>
            <a:r>
              <a:rPr sz="950" u="sng">
                <a:solidFill>
                  <a:srgbClr val="004BA5"/>
                </a:solidFill>
                <a:hlinkClick r:id="rId5"/>
              </a:rPr>
              <a:t>1,700 remote hamlets (ASR dist) zero cellular signal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F4687"/>
                </a:solidFill>
              </a:rPr>
              <a:t>[5] New Lines / IJCMPH 2024: </a:t>
            </a:r>
            <a:r>
              <a:rPr sz="950" u="sng">
                <a:solidFill>
                  <a:srgbClr val="004BA5"/>
                </a:solidFill>
                <a:hlinkClick r:id="rId6"/>
              </a:rPr>
              <a:t>Frontline overload (28 paper registers, 23 apps)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F4687"/>
                </a:solidFill>
              </a:rPr>
              <a:t>[6] WHO AI Safety Standards: </a:t>
            </a:r>
            <a:r>
              <a:rPr sz="950" u="sng">
                <a:solidFill>
                  <a:srgbClr val="004BA5"/>
                </a:solidFill>
                <a:hlinkClick r:id="rId7"/>
              </a:rPr>
              <a:t>Multi-modal AI guidance for clinical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50" b="1">
                <a:solidFill>
                  <a:srgbClr val="1F4687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Deterministic Danger Escalation + Referral Slip: </a:t>
            </a:r>
            <a:r>
              <a:rPr sz="1019">
                <a:solidFill>
                  <a:srgbClr val="262626"/>
                </a:solidFill>
                <a:latin typeface="Calibri"/>
              </a:rPr>
              <a:t>Scans queries across English, Hinglish &amp; Telugu-Latin; triggers red screen (100% recall on 367 phrasings [1, 2]) + 1-tap 108 Emergency Referral Slip.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Strict Non-Prescribing Scope Gate: </a:t>
            </a:r>
            <a:r>
              <a:rPr sz="1019">
                <a:solidFill>
                  <a:srgbClr val="262626"/>
                </a:solidFill>
                <a:latin typeface="Calibri"/>
              </a:rPr>
              <a:t>Hard-blocks antibiotic &amp; dosage questions with physician redirects, ensuring paramedical workers operate strictly within ASHA guidelines [1, 6].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Extractive BM25 Protocol Retrieval: </a:t>
            </a:r>
            <a:r>
              <a:rPr sz="1019">
                <a:solidFill>
                  <a:srgbClr val="262626"/>
                </a:solidFill>
                <a:latin typeface="Calibri"/>
              </a:rPr>
              <a:t>Pure Kotlin BM25 matches questions to official MoHFW/NHM manuals [1, 2] with exact document &amp; page citations (0.53 ms latency, 0% hallucination).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Prioritised Daily Household Action Plan &amp; 2G Sync: </a:t>
            </a:r>
            <a:r>
              <a:rPr sz="1019">
                <a:solidFill>
                  <a:srgbClr val="262626"/>
                </a:solidFill>
                <a:latin typeface="Calibri"/>
              </a:rPr>
              <a:t>Triage ranking: Danger Flags &gt; Overdue Follow-ups &gt; Routine Due Dates + 1-Tap End-of-Day PHC Summary Report (transmissible via 2G SMS [4, 5]).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99232"/>
            <a:ext cx="10728655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mockup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3044952"/>
            <a:ext cx="6858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Design Steps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1206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50" b="1">
                <a:solidFill>
                  <a:srgbClr val="1F4687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5120640" cy="5120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 sz="1000">
                <a:solidFill>
                  <a:srgbClr val="1F4687"/>
                </a:solidFill>
                <a:latin typeface="Calibri"/>
              </a:rPr>
              <a:t>1. Input &amp; Speech Recognition: </a:t>
            </a:r>
            <a:r>
              <a:rPr sz="1000">
                <a:solidFill>
                  <a:srgbClr val="262626"/>
                </a:solidFill>
                <a:latin typeface="Calibri"/>
              </a:rPr>
              <a:t>Trilingual voice mic and text (EN, Hindi, Telugu-Latin) for instant frontline accessibility.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 sz="1000">
                <a:solidFill>
                  <a:srgbClr val="1F4687"/>
                </a:solidFill>
                <a:latin typeface="Calibri"/>
              </a:rPr>
              <a:t>2. Danger-Sign Rule Engine [Current]: </a:t>
            </a:r>
            <a:r>
              <a:rPr sz="1000">
                <a:solidFill>
                  <a:srgbClr val="262626"/>
                </a:solidFill>
                <a:latin typeface="Calibri"/>
              </a:rPr>
              <a:t>Deterministic regex on 27 danger signs (100% recall [1, 2]); immediately triggers Red Alert + 108 Referral Slip.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 sz="1000">
                <a:solidFill>
                  <a:srgbClr val="1F4687"/>
                </a:solidFill>
                <a:latin typeface="Calibri"/>
              </a:rPr>
              <a:t>3. Intent Safety Gate [Current]: </a:t>
            </a:r>
            <a:r>
              <a:rPr sz="1000">
                <a:solidFill>
                  <a:srgbClr val="262626"/>
                </a:solidFill>
                <a:latin typeface="Calibri"/>
              </a:rPr>
              <a:t>Intercepts dosage &amp; prescription queries; enforces non-prescribing boundaries [1, 6] with physician redirects.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 sz="1000">
                <a:solidFill>
                  <a:srgbClr val="1F4687"/>
                </a:solidFill>
                <a:latin typeface="Calibri"/>
              </a:rPr>
              <a:t>4. Offline BM25 Retrieval [Current]: </a:t>
            </a:r>
            <a:r>
              <a:rPr sz="1000">
                <a:solidFill>
                  <a:srgbClr val="262626"/>
                </a:solidFill>
                <a:latin typeface="Calibri"/>
              </a:rPr>
              <a:t>Pure Kotlin search over local on-device MoHFW/NHM protocol chunks; exact page citations (0% hallucination).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 sz="1000">
                <a:solidFill>
                  <a:srgbClr val="1F4687"/>
                </a:solidFill>
                <a:latin typeface="Calibri"/>
              </a:rPr>
              <a:t>5. Parallel Household Engine [Current]: </a:t>
            </a:r>
            <a:r>
              <a:rPr sz="1000">
                <a:solidFill>
                  <a:srgbClr val="262626"/>
                </a:solidFill>
                <a:latin typeface="Calibri"/>
              </a:rPr>
              <a:t>Ingests offline household register -&gt; Urgency triage (Danger &gt; Overdue &gt; Scheduled) -&gt; Daily Prioritised Visit List.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b="1" sz="1000">
                <a:solidFill>
                  <a:srgbClr val="1F4687"/>
                </a:solidFill>
                <a:latin typeface="Calibri"/>
              </a:rPr>
              <a:t>6. Planned Extensions [Roadmap]: </a:t>
            </a:r>
            <a:r>
              <a:rPr sz="1000">
                <a:solidFill>
                  <a:srgbClr val="262626"/>
                </a:solidFill>
                <a:latin typeface="Calibri"/>
              </a:rPr>
              <a:t>On-device SLM rephraser for natural conversational synthesis; automated 2G SMS field summary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3949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b="1" sz="1650">
                <a:solidFill>
                  <a:srgbClr val="1F4687"/>
                </a:solidFill>
              </a:rPr>
              <a:t>Architecture Diagram </a:t>
            </a:r>
            <a:r>
              <a:rPr sz="1150">
                <a:solidFill>
                  <a:srgbClr val="647382"/>
                </a:solidFill>
              </a:rPr>
              <a:t>(Safety-First &amp; Parallel Workflows)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5425135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_dia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144268"/>
            <a:ext cx="5303520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Challenges &amp;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728655" cy="1645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l"/>
            <a:r>
              <a:rPr b="1" sz="1250">
                <a:solidFill>
                  <a:srgbClr val="1F4687"/>
                </a:solidFill>
              </a:rPr>
              <a:t>Challenge 1: Zero Connectivity &amp; Mobile Resource Constraints</a:t>
            </a:r>
          </a:p>
          <a:p>
            <a:pPr algn="l">
              <a:spcBef>
                <a:spcPts val="400"/>
              </a:spcBef>
            </a:pPr>
            <a:r>
              <a:rPr b="1" sz="1019">
                <a:solidFill>
                  <a:srgbClr val="1F4687"/>
                </a:solidFill>
              </a:rPr>
              <a:t>Problem: </a:t>
            </a:r>
            <a:r>
              <a:rPr sz="1019">
                <a:solidFill>
                  <a:srgbClr val="262626"/>
                </a:solidFill>
              </a:rPr>
              <a:t>Zero mobile reception in rural hamlets and severe RAM/battery constraints on frontline smartphones.</a:t>
            </a:r>
          </a:p>
          <a:p>
            <a:pPr algn="l">
              <a:spcBef>
                <a:spcPts val="300"/>
              </a:spcBef>
            </a:pPr>
            <a:r>
              <a:rPr b="1" sz="1019">
                <a:solidFill>
                  <a:srgbClr val="247D2E"/>
                </a:solidFill>
              </a:rPr>
              <a:t>Mitigation: </a:t>
            </a:r>
            <a:r>
              <a:rPr sz="1019">
                <a:solidFill>
                  <a:srgbClr val="262626"/>
                </a:solidFill>
              </a:rPr>
              <a:t>100% on-device architecture with zero network permissions. Measured across 30 diagnostic queries on physical hardware (OnePlus CPH2613, Android 15 in Airplane Mode) and standalone JVM: APK size is 16.9 MB, median query latency is 0.53 ms (P95: 5.38 ms), and peak heap RAM footprint is &lt; 1 MB.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10728655" cy="1645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l"/>
            <a:r>
              <a:rPr b="1" sz="1250">
                <a:solidFill>
                  <a:srgbClr val="1F4687"/>
                </a:solidFill>
              </a:rPr>
              <a:t>Challenge 2: Hallucination Risks &amp; Clinical Safety Boundary Violations</a:t>
            </a:r>
          </a:p>
          <a:p>
            <a:pPr algn="l">
              <a:spcBef>
                <a:spcPts val="400"/>
              </a:spcBef>
            </a:pPr>
            <a:r>
              <a:rPr b="1" sz="1019">
                <a:solidFill>
                  <a:srgbClr val="1F4687"/>
                </a:solidFill>
              </a:rPr>
              <a:t>Problem: </a:t>
            </a:r>
            <a:r>
              <a:rPr sz="1019">
                <a:solidFill>
                  <a:srgbClr val="262626"/>
                </a:solidFill>
              </a:rPr>
              <a:t>Medical hallucination risks and catastrophic delays from missed pregnancy and newborn danger signs.</a:t>
            </a:r>
          </a:p>
          <a:p>
            <a:pPr algn="l">
              <a:spcBef>
                <a:spcPts val="300"/>
              </a:spcBef>
            </a:pPr>
            <a:r>
              <a:rPr b="1" sz="1019">
                <a:solidFill>
                  <a:srgbClr val="247D2E"/>
                </a:solidFill>
              </a:rPr>
              <a:t>Mitigation: </a:t>
            </a:r>
            <a:r>
              <a:rPr sz="1019">
                <a:solidFill>
                  <a:srgbClr val="262626"/>
                </a:solidFill>
              </a:rPr>
              <a:t>Deterministic danger rules execute BEFORE any retrieval logic. Tested across a 367-phrase benchmark derived from 27 MoHFW/NHM emergency signs across English, Hinglish &amp; Telugu-Latin colloquial variants: achieved 100% recall on the test set, triggering instant Red Alerts + 108 referral slips without retrieval delay.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10728655" cy="1645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l"/>
            <a:r>
              <a:rPr b="1" sz="1250">
                <a:solidFill>
                  <a:srgbClr val="1F4687"/>
                </a:solidFill>
              </a:rPr>
              <a:t>Challenge 3: Vernacular Dialects &amp; Heavy Paper Administrative Friction</a:t>
            </a:r>
          </a:p>
          <a:p>
            <a:pPr algn="l">
              <a:spcBef>
                <a:spcPts val="400"/>
              </a:spcBef>
            </a:pPr>
            <a:r>
              <a:rPr b="1" sz="1019">
                <a:solidFill>
                  <a:srgbClr val="1F4687"/>
                </a:solidFill>
              </a:rPr>
              <a:t>Problem: </a:t>
            </a:r>
            <a:r>
              <a:rPr sz="1019">
                <a:solidFill>
                  <a:srgbClr val="262626"/>
                </a:solidFill>
              </a:rPr>
              <a:t>Code-mixed vernacular queries (English, Hinglish, Telugu-Latin) with dialectal variations, typos, and paper register friction.</a:t>
            </a:r>
          </a:p>
          <a:p>
            <a:pPr algn="l">
              <a:spcBef>
                <a:spcPts val="300"/>
              </a:spcBef>
            </a:pPr>
            <a:r>
              <a:rPr b="1" sz="1019">
                <a:solidFill>
                  <a:srgbClr val="247D2E"/>
                </a:solidFill>
              </a:rPr>
              <a:t>Mitigation: </a:t>
            </a:r>
            <a:r>
              <a:rPr sz="1019">
                <a:solidFill>
                  <a:srgbClr val="262626"/>
                </a:solidFill>
              </a:rPr>
              <a:t>[Implemented]: Robust phonetic tokenisation, code-mixed synonym mapping, and clinical urgency triage (Danger &gt; Overdue &gt; Scheduled) with 1-tap referral slips. [Planned]: On-device SLM rephraser using pre-cached organizer models and background 2G SMS gateway sync for daily PHC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Unique Selling Proposition (USP)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3429000" cy="3154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b="1" sz="1250">
                <a:solidFill>
                  <a:srgbClr val="1F4687"/>
                </a:solidFill>
              </a:rPr>
              <a:t>Deterministic Safety Pipeline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Emergency rules execute BEFORE any AI logic.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100% danger recall on 367 benchmark phrasings [1, 2].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Hard non-prescribing gate [6] with extractive, source-cited responses &amp; 108 slips.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9976" y="1143000"/>
            <a:ext cx="3429000" cy="3154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b="1" sz="1250">
                <a:solidFill>
                  <a:srgbClr val="1F4687"/>
                </a:solidFill>
              </a:rPr>
              <a:t>100% Offline &amp; Measured Speed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Zero network permissions (built for [4]).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OnePlus CPH2613 (Airplane Mode):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   - Median Query Latency: 0.53 ms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   - P95 Benchmark Latency: 5.38 ms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   - APK: 16.9 MB | Peak RAM: &lt; 1 MB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Runs natively without SIM or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1143000"/>
            <a:ext cx="3429000" cy="3154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/>
            <a:r>
              <a:rPr b="1" sz="1250">
                <a:solidFill>
                  <a:srgbClr val="1F4687"/>
                </a:solidFill>
              </a:rPr>
              <a:t>Prioritised Household Action Plan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Transforms 30+ static paper records into an actionable daily visit list.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Ensures high-risk pregnant women &amp; unimmunized infants are visited first (Danger &gt; Overdue &gt; Scheduled).</a:t>
            </a:r>
          </a:p>
          <a:p>
            <a:pPr algn="l">
              <a:spcBef>
                <a:spcPts val="300"/>
              </a:spcBef>
            </a:pPr>
            <a:r>
              <a:rPr sz="980">
                <a:solidFill>
                  <a:srgbClr val="262626"/>
                </a:solidFill>
              </a:rPr>
              <a:t>• [Planned Extension: 2G SMS sync].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62272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37160"/>
          <a:lstStyle/>
          <a:p>
            <a:pPr algn="l"/>
            <a:r>
              <a:rPr b="1" sz="1350">
                <a:solidFill>
                  <a:srgbClr val="1F4687"/>
                </a:solidFill>
              </a:rPr>
              <a:t>Competitive Advantage Summary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Integrated Frontline Triad: </a:t>
            </a:r>
            <a:r>
              <a:rPr sz="1019">
                <a:solidFill>
                  <a:srgbClr val="262626"/>
                </a:solidFill>
                <a:latin typeface="Calibri"/>
              </a:rPr>
              <a:t>Sahaaya uniquely unifies three essential frontline capabilities in one zero-network app: deterministic emergency danger escalation [1], offline MoHFW/NHM protocol retrieval with page citations [2], and clinical urgency-ranked household visit planning.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sz="1019">
                <a:solidFill>
                  <a:srgbClr val="1F4687"/>
                </a:solidFill>
                <a:latin typeface="Calibri"/>
              </a:rPr>
              <a:t>• Clinically Safe &amp; Field-Hardened: </a:t>
            </a:r>
            <a:r>
              <a:rPr sz="1019">
                <a:solidFill>
                  <a:srgbClr val="262626"/>
                </a:solidFill>
                <a:latin typeface="Calibri"/>
              </a:rPr>
              <a:t>Guarantees paramedical boundary safety via hard physician redirects on prescriptions [1, 6], operates 100% offline in zero-connectivity hamlets [4], and delivers instant 1-tap referral slips to eliminate fatal transport delays [3].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87552"/>
          </a:xfrm>
          <a:prstGeom prst="rect">
            <a:avLst/>
          </a:prstGeom>
          <a:solidFill>
            <a:srgbClr val="1F4687"/>
          </a:solidFill>
          <a:ln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&amp; POC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650" b="1">
                <a:solidFill>
                  <a:srgbClr val="1F4687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28520" y="1371600"/>
            <a:ext cx="7534655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_embed_opt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389888"/>
            <a:ext cx="7498079" cy="4215384"/>
          </a:xfrm>
          <a:prstGeom prst="rect">
            <a:avLst/>
          </a:prstGeom>
        </p:spPr>
      </p:pic>
      <p:sp>
        <p:nvSpPr>
          <p:cNvPr id="6" name="Rounded Rectangle 5">
            <a:hlinkClick r:id="rId3"/>
          </p:cNvPr>
          <p:cNvSpPr/>
          <p:nvPr/>
        </p:nvSpPr>
        <p:spPr>
          <a:xfrm>
            <a:off x="731520" y="5715000"/>
            <a:ext cx="4206240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b="1" sz="1050">
                <a:solidFill>
                  <a:srgbClr val="CC0000"/>
                </a:solidFill>
              </a:rPr>
              <a:t>YouTube Demo: </a:t>
            </a:r>
            <a:r>
              <a:rPr b="1" sz="1050" u="sng">
                <a:solidFill>
                  <a:srgbClr val="004BA5"/>
                </a:solidFill>
                <a:hlinkClick r:id="rId3"/>
              </a:rPr>
              <a:t>https://youtu.be/_Yz6aoMcbP4</a:t>
            </a:r>
          </a:p>
        </p:txBody>
      </p:sp>
      <p:sp>
        <p:nvSpPr>
          <p:cNvPr id="7" name="Rounded Rectangle 6">
            <a:hlinkClick r:id="rId4"/>
          </p:cNvPr>
          <p:cNvSpPr/>
          <p:nvPr/>
        </p:nvSpPr>
        <p:spPr>
          <a:xfrm>
            <a:off x="5074920" y="5715000"/>
            <a:ext cx="3840480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b="1" sz="1050">
                <a:solidFill>
                  <a:srgbClr val="1F4687"/>
                </a:solidFill>
              </a:rPr>
              <a:t>GitHub: </a:t>
            </a:r>
            <a:r>
              <a:rPr sz="1050" u="sng">
                <a:solidFill>
                  <a:srgbClr val="004BA5"/>
                </a:solidFill>
                <a:hlinkClick r:id="rId4"/>
              </a:rPr>
              <a:t>github.com/yogeswar142/Sahaaya</a:t>
            </a:r>
          </a:p>
        </p:txBody>
      </p:sp>
      <p:sp>
        <p:nvSpPr>
          <p:cNvPr id="8" name="Rounded Rectangle 7">
            <a:hlinkClick r:id="rId5"/>
          </p:cNvPr>
          <p:cNvSpPr/>
          <p:nvPr/>
        </p:nvSpPr>
        <p:spPr>
          <a:xfrm>
            <a:off x="9052560" y="5715000"/>
            <a:ext cx="2407615" cy="5029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0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b="1" sz="1050">
                <a:solidFill>
                  <a:srgbClr val="1F4687"/>
                </a:solidFill>
              </a:rPr>
              <a:t>APK: </a:t>
            </a:r>
            <a:r>
              <a:rPr b="1" sz="1050" u="sng">
                <a:solidFill>
                  <a:srgbClr val="247D2E"/>
                </a:solidFill>
                <a:hlinkClick r:id="rId5"/>
              </a:rPr>
              <a:t>v1.0.0 (16.9 MB)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Calibri"/>
              </a:defRPr>
            </a:pPr>
            <a:r>
              <a:t>Working Offline Android POC | Grounded on MoHFW/NHM Protocols [1-3] | 100% Danger Recall | Zero Cloud Permissions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